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F3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B1F3A"/>
                </a:solidFill>
                <a:latin typeface="Calibri"/>
              </a:rPr>
              <a:t>Active vs churned (app data)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1F3A"/>
              </a:solidFill>
              <a:effectLst/>
            </c:spPr>
          </c:dPt>
          <c:dPt>
            <c:idx val="1"/>
            <c:bubble3D val="0"/>
            <c:spPr>
              <a:solidFill>
                <a:srgbClr val="FF6B5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Active</c:v>
                </c:pt>
                <c:pt idx="1">
                  <c:v>Churned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70.5</c:v>
                </c:pt>
                <c:pt idx="1">
                  <c:v>29.5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F3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B1F3A"/>
                </a:solidFill>
                <a:latin typeface="Calibri"/>
              </a:rPr>
              <a:t>Recall by model (test set)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Random Forest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0.746</c:v>
                </c:pt>
                <c:pt idx="1">
                  <c:v>0.746</c:v>
                </c:pt>
                <c:pt idx="2">
                  <c:v>0.814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shik-code-design/CUSTOMER_CHURN_PREDICTION_SUBSCRIPTION" TargetMode="External"/><Relationship Id="rId2" Type="http://schemas.openxmlformats.org/officeDocument/2006/relationships/hyperlink" Target="https://github.com/ashik-code-design/automated-survey-analysis" TargetMode="External"/><Relationship Id="rId3" Type="http://schemas.openxmlformats.org/officeDocument/2006/relationships/hyperlink" Target="https://customer-churn-prediction-subscription.streamlit.app/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2926080"/>
            <a:ext cx="3657600" cy="3657600"/>
          </a:xfrm>
          <a:prstGeom prst="ellipse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91840" y="-1280160"/>
            <a:ext cx="2743200" cy="2743200"/>
          </a:xfrm>
          <a:prstGeom prst="ellipse">
            <a:avLst/>
          </a:prstGeom>
          <a:solidFill>
            <a:srgbClr val="FF6B5E">
              <a:alpha val="25000"/>
            </a:srgbClr>
          </a:solidFill>
          <a:ln w="12700">
            <a:solidFill>
              <a:srgbClr val="FF6B5E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31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 /  RETENTION ANALYTICS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3444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who is leaving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they do.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718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 for Subscription Businesses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97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 •  SHAP  •  Streamlit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46904" y="1472184"/>
            <a:ext cx="3840480" cy="2286000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9" name="Image 0" descr="shot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417320"/>
            <a:ext cx="384048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640080"/>
            <a:ext cx="2011680" cy="2011680"/>
          </a:xfrm>
          <a:prstGeom prst="ellipse">
            <a:avLst/>
          </a:prstGeom>
          <a:solidFill>
            <a:srgbClr val="14B8A6">
              <a:alpha val="25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quietly eats growth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371600"/>
          <a:ext cx="34747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206240" y="1417320"/>
            <a:ext cx="448056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E4DCC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206240" y="1554480"/>
            <a:ext cx="82296" cy="6217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80560" y="150876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5–25×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6400800" y="150876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acquire vs retain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06240" y="2468880"/>
            <a:ext cx="448056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E4DCC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06240" y="2606040"/>
            <a:ext cx="82296" cy="621792"/>
          </a:xfrm>
          <a:prstGeom prst="rect">
            <a:avLst/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480560" y="256032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vs 3%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0" y="256032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churn, huge 5-year gap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206240" y="3520440"/>
            <a:ext cx="448056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E4DCC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06240" y="3657600"/>
            <a:ext cx="82296" cy="62179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480560" y="361188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0" y="361188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horizon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640080"/>
            <a:ext cx="2011680" cy="2011680"/>
          </a:xfrm>
          <a:prstGeom prst="ellipse">
            <a:avLst/>
          </a:prstGeom>
          <a:solidFill>
            <a:srgbClr val="14B8A6">
              <a:alpha val="25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logs to a save play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600200"/>
            <a:ext cx="1783080" cy="914400"/>
          </a:xfrm>
          <a:prstGeom prst="chevron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002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6974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CRM, billing, usage, support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75688" y="1600200"/>
            <a:ext cx="1783080" cy="914400"/>
          </a:xfrm>
          <a:prstGeom prst="chevron">
            <a:avLst/>
          </a:prstGeom>
          <a:solidFill>
            <a:srgbClr val="1E5A7A"/>
          </a:solidFill>
          <a:ln w="12700">
            <a:solidFill>
              <a:srgbClr val="1E5A7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95728" y="16002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167128" y="26974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RFM, deltas, friction index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39896" y="1600200"/>
            <a:ext cx="1783080" cy="914400"/>
          </a:xfrm>
          <a:prstGeom prst="chevron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59936" y="16002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831336" y="26974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with imbalance handling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04104" y="1600200"/>
            <a:ext cx="1783080" cy="914400"/>
          </a:xfrm>
          <a:prstGeom prst="chevron">
            <a:avLst/>
          </a:prstGeom>
          <a:solidFill>
            <a:srgbClr val="E39A3B"/>
          </a:solidFill>
          <a:ln w="12700">
            <a:solidFill>
              <a:srgbClr val="E39A3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724144" y="16002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95544" y="26974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reasons per customer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068312" y="1600200"/>
            <a:ext cx="1783080" cy="914400"/>
          </a:xfrm>
          <a:prstGeom prst="chevron">
            <a:avLst/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88352" y="16002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159752" y="26974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alerts and campaigns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36576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Airflow batch  →  MLflow registry  →  Reverse ETL to Salesforce, Zendesk and Marketo, with drift monitoring and auto-retraining.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640080"/>
            <a:ext cx="2011680" cy="2011680"/>
          </a:xfrm>
          <a:prstGeom prst="ellipse">
            <a:avLst/>
          </a:prstGeom>
          <a:solidFill>
            <a:srgbClr val="14B8A6">
              <a:alpha val="25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wins on recall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325880"/>
          <a:ext cx="47548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394960" y="1371600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DCC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577840" y="1463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accuracy?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577840" y="175564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accuracy by always saying "stays" is useless.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394960" y="2423160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DCC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577840" y="2514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track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577840" y="280720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Recall, precision and PR-AUC.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394960" y="3474720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DCC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577840" y="3566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577840" y="385876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by cost: $50 discount vs $5,000 CLV.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640080"/>
            <a:ext cx="2011680" cy="2011680"/>
          </a:xfrm>
          <a:prstGeom prst="ellipse">
            <a:avLst/>
          </a:prstGeom>
          <a:solidFill>
            <a:srgbClr val="14B8A6">
              <a:alpha val="25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comes with a reason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94944" y="1426464"/>
            <a:ext cx="3291840" cy="1959429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Image 0" descr="shot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3291840" cy="195942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266944" y="1426464"/>
            <a:ext cx="3291840" cy="1959429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8" name="Image 1" descr="shot1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371600"/>
            <a:ext cx="3291840" cy="195942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0080" y="3474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Prediction: 26.88% churn probability, HIGH risk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5212080" y="3474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waterfall: which features push risk up or down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393192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14B8A6">
              <a:alpha val="2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40080" y="39319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CSMs see the why (no login for 21 days, open ticket) and tailor the save play.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640080"/>
            <a:ext cx="2011680" cy="2011680"/>
          </a:xfrm>
          <a:prstGeom prst="ellipse">
            <a:avLst/>
          </a:prstGeom>
          <a:solidFill>
            <a:srgbClr val="14B8A6">
              <a:alpha val="25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save play to the customer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325880" cy="3154680"/>
          </a:xfrm>
          <a:prstGeom prst="roundRect">
            <a:avLst>
              <a:gd name="adj" fmla="val 8276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5087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Glove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1945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risk, high CLV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97180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CSM call using SHAP reasons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74520" y="1371600"/>
            <a:ext cx="1325880" cy="3154680"/>
          </a:xfrm>
          <a:prstGeom prst="roundRect">
            <a:avLst>
              <a:gd name="adj" fmla="val 8276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84248" y="15087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984248" y="21945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risk, low CLV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984248" y="297180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drips, webinars, 15% discount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1371600"/>
            <a:ext cx="1325880" cy="3154680"/>
          </a:xfrm>
          <a:prstGeom prst="roundRect">
            <a:avLst>
              <a:gd name="adj" fmla="val 8276"/>
            </a:avLst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01568" y="15087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Fix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401568" y="21945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Involuntary risk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401568" y="297180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prompt before card expires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92624" y="1426464"/>
            <a:ext cx="3657600" cy="2177143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8" name="Image 0" descr="shot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371600"/>
            <a:ext cx="3657600" cy="2177143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493776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heatmap: tenure cohort × contract type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937760" y="4023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uplift modeling to avoid "Sleeping Dogs", customers who cancel because we contacted them.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3017520"/>
            <a:ext cx="3291840" cy="3291840"/>
          </a:xfrm>
          <a:prstGeom prst="ellipse">
            <a:avLst/>
          </a:prstGeom>
          <a:solidFill>
            <a:srgbClr val="FF6B5E">
              <a:alpha val="25000"/>
            </a:srgbClr>
          </a:solidFill>
          <a:ln w="12700">
            <a:solidFill>
              <a:srgbClr val="FF6B5E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640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project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315200" cy="749808"/>
          </a:xfrm>
          <a:prstGeom prst="roundRect">
            <a:avLst>
              <a:gd name="adj" fmla="val 14634"/>
            </a:avLst>
          </a:prstGeom>
          <a:solidFill>
            <a:srgbClr val="13335C"/>
          </a:solidFill>
          <a:ln w="12700">
            <a:solidFill>
              <a:srgbClr val="1333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92808"/>
            <a:ext cx="438912" cy="43891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928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81051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1500" dirty="0"/>
          </a:p>
        </p:txBody>
      </p:sp>
      <p:sp>
        <p:nvSpPr>
          <p:cNvPr id="8" name="Text 6">
            <a:hlinkClick r:id="rId1" tooltip=""/>
          </p:cNvPr>
          <p:cNvSpPr txBox="1"/>
          <p:nvPr/>
        </p:nvSpPr>
        <p:spPr>
          <a:xfrm>
            <a:off x="1417320" y="213055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7FE0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https://github.com/ashik-code-design/CUSTOMER_CHURN_PREDICTION_SUBSCRIPTION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7315200" cy="749808"/>
          </a:xfrm>
          <a:prstGeom prst="roundRect">
            <a:avLst>
              <a:gd name="adj" fmla="val 14634"/>
            </a:avLst>
          </a:prstGeom>
          <a:solidFill>
            <a:srgbClr val="13335C"/>
          </a:solidFill>
          <a:ln w="12700">
            <a:solidFill>
              <a:srgbClr val="1333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807208"/>
            <a:ext cx="438912" cy="438912"/>
          </a:xfrm>
          <a:prstGeom prst="ellipse">
            <a:avLst/>
          </a:prstGeom>
          <a:solidFill>
            <a:srgbClr val="E39A3B"/>
          </a:solidFill>
          <a:ln w="12700">
            <a:solidFill>
              <a:srgbClr val="E39A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8072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72491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analysis</a:t>
            </a:r>
            <a:endParaRPr lang="en-US" sz="1500" dirty="0"/>
          </a:p>
        </p:txBody>
      </p:sp>
      <p:sp>
        <p:nvSpPr>
          <p:cNvPr id="13" name="Text 11">
            <a:hlinkClick r:id="rId2" tooltip=""/>
          </p:cNvPr>
          <p:cNvSpPr txBox="1"/>
          <p:nvPr/>
        </p:nvSpPr>
        <p:spPr>
          <a:xfrm>
            <a:off x="1417320" y="304495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7FE0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https://github.com/ashik-code-design/automated-survey-analysis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7315200" cy="749808"/>
          </a:xfrm>
          <a:prstGeom prst="roundRect">
            <a:avLst>
              <a:gd name="adj" fmla="val 14634"/>
            </a:avLst>
          </a:prstGeom>
          <a:solidFill>
            <a:srgbClr val="13335C"/>
          </a:solidFill>
          <a:ln w="12700">
            <a:solidFill>
              <a:srgbClr val="1333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721608"/>
            <a:ext cx="438912" cy="438912"/>
          </a:xfrm>
          <a:prstGeom prst="ellipse">
            <a:avLst/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7216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63931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</a:t>
            </a:r>
            <a:endParaRPr lang="en-US" sz="1500" dirty="0"/>
          </a:p>
        </p:txBody>
      </p:sp>
      <p:sp>
        <p:nvSpPr>
          <p:cNvPr id="18" name="Text 16">
            <a:hlinkClick r:id="rId3" tooltip=""/>
          </p:cNvPr>
          <p:cNvSpPr txBox="1"/>
          <p:nvPr/>
        </p:nvSpPr>
        <p:spPr>
          <a:xfrm>
            <a:off x="1417320" y="395935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7FE0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https://customer-churn-prediction-subscription.streamlit.app/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Prediction</dc:title>
  <dc:subject>PptxGenJS Presentation</dc:subject>
  <dc:creator>PptxGenJS</dc:creator>
  <cp:lastModifiedBy>PptxGenJS</cp:lastModifiedBy>
  <cp:revision>1</cp:revision>
  <dcterms:created xsi:type="dcterms:W3CDTF">2026-10-18T10:18:15Z</dcterms:created>
  <dcterms:modified xsi:type="dcterms:W3CDTF">2026-10-18T10:18:15Z</dcterms:modified>
</cp:coreProperties>
</file>